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1446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04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0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8645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3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0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7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7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6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3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AntennaForge</a:t>
            </a:r>
            <a:br>
              <a:rPr lang="en-US"/>
            </a:br>
            <a:r>
              <a:rPr lang="en-US" sz="2800"/>
              <a:t>Synthetic Antenna Pattern Generation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Jude Eschete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>
              <a:defRPr sz="1800"/>
            </a:pPr>
            <a:r>
              <a:rPr lang="en-US" dirty="0"/>
              <a:t>What is it? A tool to generate, visualize, analyze, and report idealized antenna radiation patterns.</a:t>
            </a:r>
          </a:p>
          <a:p>
            <a:pPr>
              <a:defRPr sz="1800"/>
            </a:pPr>
            <a:r>
              <a:rPr lang="en-US" dirty="0"/>
              <a:t>Target Audience: Engineers needing rapid prototyping of parameterized antenna patterns.</a:t>
            </a:r>
          </a:p>
          <a:p>
            <a:pPr>
              <a:defRPr sz="1800"/>
            </a:pPr>
            <a:r>
              <a:rPr lang="en-US" dirty="0"/>
              <a:t>Core Philosophy: Generates synthetic patterns from analytical models (math), not physical geometry simulations.</a:t>
            </a:r>
          </a:p>
          <a:p>
            <a:pPr>
              <a:defRPr sz="1800"/>
            </a:pPr>
            <a:r>
              <a:rPr lang="en-US" dirty="0"/>
              <a:t>Key Stats:</a:t>
            </a:r>
          </a:p>
          <a:p>
            <a:pPr lvl="1">
              <a:defRPr sz="1800"/>
            </a:pPr>
            <a:r>
              <a:rPr lang="en-US" dirty="0"/>
              <a:t>Python 3.10+</a:t>
            </a:r>
          </a:p>
          <a:p>
            <a:pPr lvl="1">
              <a:defRPr sz="1800"/>
            </a:pPr>
            <a:r>
              <a:rPr lang="en-US" dirty="0"/>
              <a:t>7 Built-in Antenna 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The Problem: </a:t>
            </a:r>
            <a:r>
              <a:rPr lang="en-US" dirty="0"/>
              <a:t>Requirements sometimes need fast iteration on patterns that ask for specific antenna pattern behaviors. </a:t>
            </a:r>
          </a:p>
          <a:p>
            <a:pPr>
              <a:defRPr sz="1800"/>
            </a:pPr>
            <a:r>
              <a:rPr dirty="0"/>
              <a:t>The Gap: </a:t>
            </a:r>
            <a:r>
              <a:rPr lang="en-US" dirty="0"/>
              <a:t>Sometimes the intel is incomplete, and assumptions must be made. </a:t>
            </a:r>
          </a:p>
          <a:p>
            <a:pPr lvl="1">
              <a:defRPr sz="1800"/>
            </a:pPr>
            <a:r>
              <a:rPr lang="en-US" dirty="0"/>
              <a:t>This takes time for the antenna SMEs to build a system in FEKO. </a:t>
            </a:r>
          </a:p>
          <a:p>
            <a:pPr lvl="1">
              <a:defRPr sz="1800"/>
            </a:pPr>
            <a:r>
              <a:rPr lang="en-US" dirty="0"/>
              <a:t>If the analyst knows what the target gains and beamwidths are, time can be saved.</a:t>
            </a:r>
            <a:endParaRPr dirty="0"/>
          </a:p>
          <a:p>
            <a:pPr>
              <a:defRPr sz="1800"/>
            </a:pPr>
            <a:r>
              <a:rPr dirty="0"/>
              <a:t>The </a:t>
            </a:r>
            <a:r>
              <a:rPr dirty="0" err="1"/>
              <a:t>AntennaForge</a:t>
            </a:r>
            <a:r>
              <a:rPr dirty="0"/>
              <a:t> Solution:</a:t>
            </a:r>
          </a:p>
          <a:p>
            <a:pPr lvl="1">
              <a:defRPr sz="1800"/>
            </a:pPr>
            <a:r>
              <a:rPr dirty="0"/>
              <a:t>Fast: Generates multi-frequency sweeps in milliseconds.</a:t>
            </a:r>
          </a:p>
          <a:p>
            <a:pPr lvl="1">
              <a:defRPr sz="1800"/>
            </a:pPr>
            <a:r>
              <a:rPr dirty="0"/>
              <a:t>Realistic: Adds physics-based imperfections (sidelobes, noise, breakup).</a:t>
            </a:r>
          </a:p>
          <a:p>
            <a:pPr lvl="1">
              <a:defRPr sz="1800"/>
            </a:pPr>
            <a:r>
              <a:rPr dirty="0"/>
              <a:t>Portable:</a:t>
            </a:r>
            <a:r>
              <a:rPr lang="en-US" dirty="0"/>
              <a:t> Written completely in Python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Tech Stack:</a:t>
            </a:r>
          </a:p>
          <a:p>
            <a:pPr lvl="1">
              <a:defRPr sz="1800"/>
            </a:pPr>
            <a:r>
              <a:rPr dirty="0"/>
              <a:t>Core: Python (Standard Library + NumPy/SciPy)</a:t>
            </a:r>
          </a:p>
          <a:p>
            <a:pPr lvl="1">
              <a:defRPr sz="1800"/>
            </a:pPr>
            <a:r>
              <a:rPr dirty="0"/>
              <a:t>GUI: </a:t>
            </a:r>
            <a:r>
              <a:rPr dirty="0" err="1"/>
              <a:t>customtkinter</a:t>
            </a:r>
            <a:r>
              <a:rPr dirty="0"/>
              <a:t> </a:t>
            </a:r>
            <a:endParaRPr lang="en-US" dirty="0"/>
          </a:p>
          <a:p>
            <a:pPr lvl="1">
              <a:defRPr sz="1800"/>
            </a:pPr>
            <a:r>
              <a:rPr dirty="0"/>
              <a:t>Plotting: matplotlib (Embedded in GUI + Report generation)</a:t>
            </a:r>
          </a:p>
          <a:p>
            <a:pPr>
              <a:defRPr sz="1800"/>
            </a:pPr>
            <a:r>
              <a:rPr dirty="0"/>
              <a:t>Design Pattern:</a:t>
            </a:r>
          </a:p>
          <a:p>
            <a:pPr lvl="1">
              <a:defRPr sz="1800"/>
            </a:pPr>
            <a:r>
              <a:rPr dirty="0"/>
              <a:t>Separation of Concerns: core/ engine decoupled from </a:t>
            </a:r>
            <a:r>
              <a:rPr dirty="0" err="1"/>
              <a:t>gui</a:t>
            </a:r>
            <a:r>
              <a:rPr dirty="0"/>
              <a:t>/</a:t>
            </a:r>
          </a:p>
          <a:p>
            <a:pPr lvl="1">
              <a:defRPr sz="1800"/>
            </a:pPr>
            <a:r>
              <a:rPr dirty="0"/>
              <a:t>Data Flow: Config </a:t>
            </a:r>
            <a:r>
              <a:rPr dirty="0" err="1"/>
              <a:t>Dict</a:t>
            </a:r>
            <a:r>
              <a:rPr dirty="0"/>
              <a:t> -&gt; Engine -&gt; CSV Files -&gt; Analysis/Plotting</a:t>
            </a:r>
          </a:p>
          <a:p>
            <a:pPr>
              <a:defRPr sz="1800"/>
            </a:pPr>
            <a:r>
              <a:rPr dirty="0"/>
              <a:t>Input/Output:</a:t>
            </a:r>
          </a:p>
          <a:p>
            <a:pPr lvl="1">
              <a:defRPr sz="1800"/>
            </a:pPr>
            <a:r>
              <a:rPr dirty="0"/>
              <a:t>Input: JSON Configuration</a:t>
            </a:r>
            <a:r>
              <a:rPr lang="en-US" dirty="0"/>
              <a:t> for batch processing</a:t>
            </a:r>
            <a:r>
              <a:rPr dirty="0"/>
              <a:t> or GUI Widgets</a:t>
            </a:r>
          </a:p>
          <a:p>
            <a:pPr lvl="1">
              <a:defRPr sz="1800"/>
            </a:pPr>
            <a:r>
              <a:rPr dirty="0"/>
              <a:t>Output: Standard CSV format</a:t>
            </a:r>
            <a:r>
              <a:rPr lang="en-US" dirty="0"/>
              <a:t> for antenna cuts</a:t>
            </a:r>
            <a:r>
              <a:rPr dirty="0"/>
              <a:t>, PDF/LaTeX Reports</a:t>
            </a:r>
            <a:r>
              <a:rPr lang="en-US" dirty="0"/>
              <a:t> for frequency ranges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Math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Implementation:</a:t>
            </a:r>
          </a:p>
          <a:p>
            <a:pPr lvl="1">
              <a:defRPr sz="1800"/>
            </a:pPr>
            <a:r>
              <a:rPr dirty="0"/>
              <a:t>Scalar Path: Pure Python fallback (slow, highly portable)</a:t>
            </a:r>
          </a:p>
          <a:p>
            <a:pPr lvl="1">
              <a:defRPr sz="1800"/>
            </a:pPr>
            <a:r>
              <a:rPr dirty="0"/>
              <a:t>Vectorized Path: NumPy implementation (fast)</a:t>
            </a:r>
          </a:p>
          <a:p>
            <a:pPr>
              <a:defRPr sz="1800"/>
            </a:pPr>
            <a:r>
              <a:rPr dirty="0"/>
              <a:t>Performance:</a:t>
            </a:r>
          </a:p>
          <a:p>
            <a:pPr lvl="1">
              <a:defRPr sz="1800"/>
            </a:pPr>
            <a:r>
              <a:rPr dirty="0"/>
              <a:t>Grid Size: 361 x 181 points (1 deg step)</a:t>
            </a:r>
          </a:p>
          <a:p>
            <a:pPr lvl="1">
              <a:defRPr sz="1800"/>
            </a:pPr>
            <a:r>
              <a:rPr dirty="0"/>
              <a:t>Time per slice: ~</a:t>
            </a:r>
            <a:r>
              <a:rPr lang="en-US" dirty="0"/>
              <a:t>11</a:t>
            </a:r>
            <a:r>
              <a:rPr dirty="0"/>
              <a:t>ms (NumPy) vs ~500ms (Scalar)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Antenna Models (Analytical Approaches)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Aperture Models:</a:t>
            </a:r>
          </a:p>
          <a:p>
            <a:pPr lvl="1">
              <a:defRPr sz="1800"/>
            </a:pPr>
            <a:r>
              <a:rPr dirty="0"/>
              <a:t>Dish: Jinc</a:t>
            </a:r>
            <a:r>
              <a:rPr baseline="30000" dirty="0"/>
              <a:t>2</a:t>
            </a:r>
            <a:r>
              <a:rPr dirty="0"/>
              <a:t> (Airy Pattern) — Uses Bessel functions</a:t>
            </a:r>
          </a:p>
          <a:p>
            <a:pPr lvl="1">
              <a:defRPr sz="1800"/>
            </a:pPr>
            <a:r>
              <a:rPr dirty="0"/>
              <a:t>Panel/Horn: Sinc</a:t>
            </a:r>
            <a:r>
              <a:rPr baseline="30000" dirty="0"/>
              <a:t>2</a:t>
            </a:r>
            <a:r>
              <a:rPr dirty="0"/>
              <a:t> (Rectangular aperture) x Cosine Taper</a:t>
            </a:r>
          </a:p>
          <a:p>
            <a:pPr>
              <a:defRPr sz="1800"/>
            </a:pPr>
            <a:r>
              <a:rPr dirty="0"/>
              <a:t>Wire Models:</a:t>
            </a:r>
          </a:p>
          <a:p>
            <a:pPr lvl="1">
              <a:defRPr sz="1800"/>
            </a:pPr>
            <a:r>
              <a:rPr dirty="0"/>
              <a:t>Dipole/Monopole: Classical thin-wire formula</a:t>
            </a:r>
          </a:p>
          <a:p>
            <a:pPr>
              <a:defRPr sz="1800"/>
            </a:pPr>
            <a:r>
              <a:rPr dirty="0"/>
              <a:t>Array Theory:</a:t>
            </a:r>
          </a:p>
          <a:p>
            <a:pPr lvl="1">
              <a:defRPr sz="1800"/>
            </a:pPr>
            <a:r>
              <a:rPr dirty="0"/>
              <a:t>Phased Array: Element Pattern x Array Factor</a:t>
            </a:r>
          </a:p>
          <a:p>
            <a:pPr lvl="1">
              <a:defRPr sz="1800"/>
            </a:pPr>
            <a:r>
              <a:rPr dirty="0"/>
              <a:t>Features: Beam steering, Grating lobe prediction, Taylor weighting</a:t>
            </a:r>
          </a:p>
          <a:p>
            <a:pPr>
              <a:defRPr sz="1800"/>
            </a:pPr>
            <a:r>
              <a:rPr dirty="0"/>
              <a:t>LPDA: Elliptical Gaussian main beam + Radial sidelobe envelope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Physics Features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Frequency-Dependent Beamwidth:</a:t>
            </a:r>
          </a:p>
          <a:p>
            <a:pPr lvl="1">
              <a:defRPr sz="1800"/>
            </a:pPr>
            <a:r>
              <a:rPr dirty="0"/>
              <a:t>Models aperture physics: BW proportional to 1/f</a:t>
            </a:r>
          </a:p>
          <a:p>
            <a:pPr lvl="1">
              <a:defRPr sz="1800"/>
            </a:pPr>
            <a:r>
              <a:rPr dirty="0"/>
              <a:t>Modes: Exponent decay, Percentage per octave, or 3-Point interpolation</a:t>
            </a:r>
          </a:p>
          <a:p>
            <a:pPr>
              <a:defRPr sz="1800"/>
            </a:pPr>
            <a:r>
              <a:rPr dirty="0"/>
              <a:t>Sidelobes (Taylor):</a:t>
            </a:r>
          </a:p>
          <a:p>
            <a:pPr lvl="1">
              <a:defRPr sz="1800"/>
            </a:pPr>
            <a:r>
              <a:rPr dirty="0"/>
              <a:t>Replaces mathematical nulls with realistic sidelobe floors</a:t>
            </a:r>
          </a:p>
          <a:p>
            <a:pPr lvl="1">
              <a:defRPr sz="1800"/>
            </a:pPr>
            <a:r>
              <a:rPr dirty="0"/>
              <a:t>Configurable decay rate and first sidelobe level (e.g., -25 dB)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Physics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The +/- 90 deg Discontinuity Fix:</a:t>
            </a:r>
          </a:p>
          <a:p>
            <a:pPr lvl="1">
              <a:defRPr sz="1800"/>
            </a:pPr>
            <a:r>
              <a:t>Problem: Analytical models often clip hard at the horizon</a:t>
            </a:r>
          </a:p>
          <a:p>
            <a:pPr lvl="1">
              <a:defRPr sz="1800"/>
            </a:pPr>
            <a:r>
              <a:t>Solution: Implements a Sigmoid Blend function to smoothly transition</a:t>
            </a:r>
          </a:p>
          <a:p>
            <a:pPr>
              <a:defRPr sz="1800"/>
            </a:pPr>
            <a:r>
              <a:t>Pattern Breakup:</a:t>
            </a:r>
          </a:p>
          <a:p>
            <a:pPr lvl="1">
              <a:defRPr sz="1800"/>
            </a:pPr>
            <a:r>
              <a:t>Adds deterministic ripple at high off-axis angles</a:t>
            </a:r>
          </a:p>
          <a:p>
            <a:pPr>
              <a:defRPr sz="1800"/>
            </a:pPr>
            <a:r>
              <a:t>VSWR Rolloff:</a:t>
            </a:r>
          </a:p>
          <a:p>
            <a:pPr lvl="1">
              <a:defRPr sz="1800"/>
            </a:pPr>
            <a:r>
              <a:t>Simulates impedance mismatch at band edges (gain drop-off)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&amp; System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Ground Reflection:</a:t>
            </a:r>
          </a:p>
          <a:p>
            <a:pPr lvl="1">
              <a:defRPr sz="1800"/>
            </a:pPr>
            <a:r>
              <a:rPr dirty="0"/>
              <a:t>Implements a 2-Ray Model</a:t>
            </a:r>
          </a:p>
          <a:p>
            <a:pPr lvl="1">
              <a:defRPr sz="1800"/>
            </a:pPr>
            <a:r>
              <a:rPr dirty="0"/>
              <a:t>Interference between direct and reflected paths based on height</a:t>
            </a:r>
          </a:p>
          <a:p>
            <a:pPr>
              <a:defRPr sz="1800"/>
            </a:pPr>
            <a:r>
              <a:rPr dirty="0"/>
              <a:t>Cross-Polarization:</a:t>
            </a:r>
          </a:p>
          <a:p>
            <a:pPr lvl="1">
              <a:defRPr sz="1800"/>
            </a:pPr>
            <a:r>
              <a:rPr dirty="0"/>
              <a:t>Generates secondary _xpol.csv files</a:t>
            </a:r>
          </a:p>
          <a:p>
            <a:pPr lvl="1">
              <a:defRPr sz="1800"/>
            </a:pPr>
            <a:r>
              <a:rPr dirty="0"/>
              <a:t>Models polarization leakage peaking at 45 deg diagonals</a:t>
            </a:r>
          </a:p>
          <a:p>
            <a:pPr>
              <a:defRPr sz="1800"/>
            </a:pPr>
            <a:r>
              <a:rPr dirty="0"/>
              <a:t>Gain-Beamwidth Coupling:</a:t>
            </a:r>
          </a:p>
          <a:p>
            <a:pPr lvl="1">
              <a:defRPr sz="1800"/>
            </a:pPr>
            <a:r>
              <a:rPr dirty="0"/>
              <a:t>Links gain calculations to beamwidth changes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The GUI (Graphical User Interface)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Framework: </a:t>
            </a:r>
            <a:r>
              <a:rPr dirty="0" err="1"/>
              <a:t>customtkinter</a:t>
            </a:r>
            <a:r>
              <a:rPr dirty="0"/>
              <a:t> Key UX Features:</a:t>
            </a:r>
          </a:p>
          <a:p>
            <a:pPr lvl="1">
              <a:defRPr sz="1800"/>
            </a:pPr>
            <a:r>
              <a:rPr dirty="0"/>
              <a:t>Lazy Loading: Pages load only when clicked</a:t>
            </a:r>
          </a:p>
          <a:p>
            <a:pPr lvl="1">
              <a:defRPr sz="1800"/>
            </a:pPr>
            <a:r>
              <a:rPr dirty="0"/>
              <a:t>Threading: Generation/Plotting run on background threads</a:t>
            </a:r>
          </a:p>
          <a:p>
            <a:pPr lvl="1">
              <a:defRPr sz="1800"/>
            </a:pPr>
            <a:r>
              <a:rPr dirty="0"/>
              <a:t>Cooperative Cancellation: Long-running jobs can be stopped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Calculations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Pattern Arithmetic:</a:t>
            </a:r>
          </a:p>
          <a:p>
            <a:pPr lvl="1">
              <a:defRPr sz="1800"/>
            </a:pPr>
            <a:r>
              <a:rPr dirty="0"/>
              <a:t>Add, Subtract, Multiply, Max Envelope</a:t>
            </a:r>
          </a:p>
          <a:p>
            <a:pPr>
              <a:defRPr sz="1800"/>
            </a:pPr>
            <a:r>
              <a:rPr dirty="0"/>
              <a:t>Geometric Transformations:</a:t>
            </a:r>
          </a:p>
          <a:p>
            <a:pPr lvl="1">
              <a:defRPr sz="1800"/>
            </a:pPr>
            <a:r>
              <a:rPr dirty="0"/>
              <a:t>3-Axis Rotation (Yaw/Pitch/Roll) using Bicubic Interpolation</a:t>
            </a:r>
          </a:p>
          <a:p>
            <a:pPr>
              <a:defRPr sz="1800"/>
            </a:pPr>
            <a:r>
              <a:rPr dirty="0"/>
              <a:t>Link Budget:</a:t>
            </a:r>
          </a:p>
          <a:p>
            <a:pPr lvl="1">
              <a:defRPr sz="1800"/>
            </a:pPr>
            <a:r>
              <a:rPr dirty="0"/>
              <a:t>Full angular map (Tx Az vs Rx Az) link margin calculation</a:t>
            </a:r>
          </a:p>
          <a:p>
            <a:pPr lvl="1">
              <a:defRPr sz="1800"/>
            </a:pPr>
            <a:r>
              <a:rPr dirty="0"/>
              <a:t>EIRP and Power Density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Philosophy: 'Production-ready outputs'</a:t>
            </a:r>
          </a:p>
          <a:p>
            <a:pPr>
              <a:defRPr sz="1800"/>
            </a:pPr>
            <a:r>
              <a:t>Formats:</a:t>
            </a:r>
          </a:p>
          <a:p>
            <a:pPr lvl="1">
              <a:defRPr sz="1800"/>
            </a:pPr>
            <a:r>
              <a:t>PDF: Direct generation via Matplotlib backend</a:t>
            </a:r>
          </a:p>
          <a:p>
            <a:pPr lvl="1">
              <a:defRPr sz="1800"/>
            </a:pPr>
            <a:r>
              <a:t>LaTeX: Generates .tex source + image folder structure</a:t>
            </a:r>
          </a:p>
          <a:p>
            <a:pPr lvl="1">
              <a:defRPr sz="1800"/>
            </a:pPr>
            <a:r>
              <a:t>PPTX: Native PowerPoint slide generation</a:t>
            </a:r>
          </a:p>
          <a:p>
            <a:pPr>
              <a:defRPr sz="1800"/>
            </a:pPr>
            <a:r>
              <a:t>Content:</a:t>
            </a:r>
          </a:p>
          <a:p>
            <a:pPr lvl="1">
              <a:defRPr sz="1800"/>
            </a:pPr>
            <a:r>
              <a:t>Auto-generated Cover Page, TOC, Summary Tables</a:t>
            </a:r>
          </a:p>
          <a:p>
            <a:pPr lvl="1">
              <a:defRPr sz="1800"/>
            </a:pPr>
            <a:r>
              <a:t>Heatmaps, Polar Plots, and 3D Surfaces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Summary: </a:t>
            </a:r>
            <a:r>
              <a:rPr dirty="0" err="1"/>
              <a:t>AntennaForge</a:t>
            </a:r>
            <a:r>
              <a:rPr dirty="0"/>
              <a:t> bridges gap between </a:t>
            </a:r>
            <a:r>
              <a:rPr lang="en-US" dirty="0"/>
              <a:t>parameterized patterns and full FEKO </a:t>
            </a:r>
            <a:r>
              <a:rPr dirty="0"/>
              <a:t>simulation.</a:t>
            </a:r>
          </a:p>
          <a:p>
            <a:pPr>
              <a:defRPr sz="1800"/>
            </a:pPr>
            <a:r>
              <a:rPr dirty="0"/>
              <a:t>Deployment: Fully portable </a:t>
            </a:r>
            <a:endParaRPr lang="en-US" dirty="0"/>
          </a:p>
          <a:p>
            <a:pPr>
              <a:defRPr sz="1800"/>
            </a:pPr>
            <a:r>
              <a:rPr dirty="0"/>
              <a:t>Future Work:</a:t>
            </a:r>
          </a:p>
          <a:p>
            <a:pPr lvl="1">
              <a:defRPr sz="1800"/>
            </a:pPr>
            <a:r>
              <a:rPr lang="en-US" dirty="0"/>
              <a:t>Output ODESSA “*.</a:t>
            </a:r>
            <a:r>
              <a:rPr lang="en-US" dirty="0" err="1"/>
              <a:t>tbl</a:t>
            </a:r>
            <a:r>
              <a:rPr lang="en-US" dirty="0"/>
              <a:t>” files.</a:t>
            </a:r>
          </a:p>
          <a:p>
            <a:pPr lvl="1">
              <a:defRPr sz="1800"/>
            </a:pPr>
            <a:r>
              <a:rPr lang="en-US" dirty="0"/>
              <a:t>2D View that updates as you adjust parameters. (Heatmap, Polar, Az/El cut)</a:t>
            </a:r>
          </a:p>
          <a:p>
            <a:pPr lvl="1">
              <a:defRPr sz="1800"/>
            </a:pPr>
            <a:r>
              <a:rPr lang="en-US" dirty="0"/>
              <a:t>Additional Antenna Plots.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E6DE-2C39-ACD4-3097-4B24C8E8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Page</a:t>
            </a:r>
          </a:p>
        </p:txBody>
      </p:sp>
      <p:pic>
        <p:nvPicPr>
          <p:cNvPr id="5" name="Content Placeholder 4" descr="Graphical user interface, application, Teams&#10;&#10;AI-generated content may be incorrect.">
            <a:extLst>
              <a:ext uri="{FF2B5EF4-FFF2-40B4-BE49-F238E27FC236}">
                <a16:creationId xmlns:a16="http://schemas.microsoft.com/office/drawing/2014/main" id="{074A1D01-4741-4169-EAF4-EE1714F40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150" y="1842050"/>
            <a:ext cx="6446838" cy="432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69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D601-446B-E079-F12B-8499BF4B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Tab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EC9EBD4-6963-2B05-53A4-DE1376EEE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7900" y="1828800"/>
            <a:ext cx="58433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69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97976-3CC2-A02F-8933-2D13A1C6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Tab Cont’d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6DD6DE-947F-9871-9EB3-77D3FDD43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6285" y="1828800"/>
            <a:ext cx="5846568" cy="4351338"/>
          </a:xfrm>
        </p:spPr>
      </p:pic>
    </p:spTree>
    <p:extLst>
      <p:ext uri="{BB962C8B-B14F-4D97-AF65-F5344CB8AC3E}">
        <p14:creationId xmlns:p14="http://schemas.microsoft.com/office/powerpoint/2010/main" val="8508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13A7-AF09-64C0-C82E-DF6D86B5B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Visualization Tab</a:t>
            </a:r>
            <a:endParaRPr lang="en-US" dirty="0"/>
          </a:p>
        </p:txBody>
      </p:sp>
      <p:pic>
        <p:nvPicPr>
          <p:cNvPr id="6" name="Content Placeholder 5" descr="Graphical user interface, application, Teams&#10;&#10;AI-generated content may be incorrect.">
            <a:extLst>
              <a:ext uri="{FF2B5EF4-FFF2-40B4-BE49-F238E27FC236}">
                <a16:creationId xmlns:a16="http://schemas.microsoft.com/office/drawing/2014/main" id="{634343E0-E0BB-24F0-DB4A-4E2052C6A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994" y="1828800"/>
            <a:ext cx="58291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6757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Metadata/LabelInfo.xml><?xml version="1.0" encoding="utf-8"?>
<clbl:labelList xmlns:clbl="http://schemas.microsoft.com/office/2020/mipLabelMetadata">
  <clbl:label id="{ea7c8314-e2a8-4228-9f00-abb40bc383a4}" enabled="1" method="Privileged" siteId="{66d73691-ea97-48b1-95d5-e94f0a46b87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40</TotalTime>
  <Words>739</Words>
  <Application>Microsoft Office PowerPoint</Application>
  <PresentationFormat>On-screen Show (4:3)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Schoolbook</vt:lpstr>
      <vt:lpstr>Wingdings 2</vt:lpstr>
      <vt:lpstr>View</vt:lpstr>
      <vt:lpstr>AntennaForge Synthetic Antenna Pattern Generation</vt:lpstr>
      <vt:lpstr>Executive Summary</vt:lpstr>
      <vt:lpstr>The Problem &amp; The Solution</vt:lpstr>
      <vt:lpstr>System Architecture</vt:lpstr>
      <vt:lpstr>The Math Engine</vt:lpstr>
      <vt:lpstr>Antenna Models (Analytical Approaches)</vt:lpstr>
      <vt:lpstr>Physics Features </vt:lpstr>
      <vt:lpstr>Physics Features</vt:lpstr>
      <vt:lpstr>Environmental &amp; System Effects</vt:lpstr>
      <vt:lpstr>The GUI (Graphical User Interface)</vt:lpstr>
      <vt:lpstr>RF Calculations &amp; Operations</vt:lpstr>
      <vt:lpstr>Reporting Engine</vt:lpstr>
      <vt:lpstr>Conclusion &amp; Roadmap</vt:lpstr>
      <vt:lpstr>Home Page</vt:lpstr>
      <vt:lpstr>Generation Tab</vt:lpstr>
      <vt:lpstr>Generation Tab Cont’d</vt:lpstr>
      <vt:lpstr>Visualization Tab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Eschete, Jude [USA]</cp:lastModifiedBy>
  <cp:revision>5</cp:revision>
  <dcterms:created xsi:type="dcterms:W3CDTF">2013-01-27T09:14:16Z</dcterms:created>
  <dcterms:modified xsi:type="dcterms:W3CDTF">2026-02-20T15:20:04Z</dcterms:modified>
  <cp:category/>
</cp:coreProperties>
</file>